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346" r:id="rId3"/>
    <p:sldId id="347" r:id="rId4"/>
    <p:sldId id="348" r:id="rId5"/>
    <p:sldId id="349" r:id="rId6"/>
    <p:sldId id="350" r:id="rId7"/>
    <p:sldId id="356" r:id="rId8"/>
    <p:sldId id="351" r:id="rId9"/>
    <p:sldId id="352" r:id="rId10"/>
    <p:sldId id="354" r:id="rId11"/>
    <p:sldId id="353" r:id="rId12"/>
    <p:sldId id="355" r:id="rId1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104">
          <p15:clr>
            <a:srgbClr val="A4A3A4"/>
          </p15:clr>
        </p15:guide>
        <p15:guide id="2" pos="36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C7A9FC-0D39-0759-3FD3-720F61323DD9}" name="Pasque, Kurt R LT USN NETC PENSACOLA FL (USA)" initials="KP" userId="S::kurt.r.pasque.mil@us.navy.mil::38b5e835-1ec2-4171-9b70-1f10d66bfd0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D5D"/>
    <a:srgbClr val="F2AA84"/>
    <a:srgbClr val="FBE3D6"/>
    <a:srgbClr val="00B050"/>
    <a:srgbClr val="FF0000"/>
    <a:srgbClr val="FF3F3F"/>
    <a:srgbClr val="FFFF00"/>
    <a:srgbClr val="000066"/>
    <a:srgbClr val="4EA72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7E740E-9BA8-4698-8B07-F9EA078E94BF}" v="2003" dt="2026-01-10T19:09:14.843"/>
    <p1510:client id="{A9012B25-1008-4AAE-9CAC-C7D2C7CF21C4}" v="414" dt="2026-01-11T20:21:57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6220" autoAdjust="0"/>
  </p:normalViewPr>
  <p:slideViewPr>
    <p:cSldViewPr>
      <p:cViewPr varScale="1">
        <p:scale>
          <a:sx n="111" d="100"/>
          <a:sy n="111" d="100"/>
        </p:scale>
        <p:origin x="1614" y="78"/>
      </p:cViewPr>
      <p:guideLst>
        <p:guide orient="horz" pos="1104"/>
        <p:guide pos="36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60" d="100"/>
        <a:sy n="160" d="100"/>
      </p:scale>
      <p:origin x="0" y="-1824"/>
    </p:cViewPr>
  </p:sorterViewPr>
  <p:notesViewPr>
    <p:cSldViewPr>
      <p:cViewPr varScale="1">
        <p:scale>
          <a:sx n="54" d="100"/>
          <a:sy n="54" d="100"/>
        </p:scale>
        <p:origin x="-2142" y="-10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8C01A4-FDC6-4763-9D02-FB7A4B610603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33D41BF-65EF-43F8-A8EE-CD06C978DB76}">
      <dgm:prSet phldrT="[Text]" phldr="0"/>
      <dgm:spPr/>
      <dgm:t>
        <a:bodyPr/>
        <a:lstStyle/>
        <a:p>
          <a:pPr rtl="0"/>
          <a:r>
            <a:rPr lang="en-US" dirty="0">
              <a:latin typeface="Arial"/>
              <a:cs typeface="Arial"/>
            </a:rPr>
            <a:t>Policy PDF</a:t>
          </a:r>
          <a:endParaRPr lang="en-US" dirty="0"/>
        </a:p>
      </dgm:t>
    </dgm:pt>
    <dgm:pt modelId="{8D5BFF86-04DD-4F45-B794-8E896DB4E85E}" type="parTrans" cxnId="{60910E8D-F048-4448-8693-590993153A99}">
      <dgm:prSet/>
      <dgm:spPr/>
    </dgm:pt>
    <dgm:pt modelId="{DB32DB44-50F9-43B3-A95C-9B9D1D9A2F21}" type="sibTrans" cxnId="{60910E8D-F048-4448-8693-590993153A99}">
      <dgm:prSet/>
      <dgm:spPr/>
    </dgm:pt>
    <dgm:pt modelId="{45B2874A-7C1A-46AA-845A-13435F0B38CC}">
      <dgm:prSet phldrT="[Text]" phldr="0"/>
      <dgm:spPr/>
      <dgm:t>
        <a:bodyPr/>
        <a:lstStyle/>
        <a:p>
          <a:pPr rtl="0"/>
          <a:r>
            <a:rPr lang="en-US" dirty="0">
              <a:latin typeface="Arial"/>
              <a:cs typeface="Arial"/>
            </a:rPr>
            <a:t>AI Extraction</a:t>
          </a:r>
          <a:endParaRPr lang="en-US" dirty="0"/>
        </a:p>
      </dgm:t>
    </dgm:pt>
    <dgm:pt modelId="{ED7AFD82-9359-45B7-B066-3AA6952E5178}" type="parTrans" cxnId="{13C4E1F6-ECDF-4E1A-A3A5-759553C99874}">
      <dgm:prSet/>
      <dgm:spPr/>
    </dgm:pt>
    <dgm:pt modelId="{65A8CFBC-B87B-4D72-8971-708746F3DA6B}" type="sibTrans" cxnId="{13C4E1F6-ECDF-4E1A-A3A5-759553C99874}">
      <dgm:prSet/>
      <dgm:spPr/>
    </dgm:pt>
    <dgm:pt modelId="{865F0EA6-DB86-4657-B20E-92A353CE1DC4}">
      <dgm:prSet phldrT="[Text]" phldr="0"/>
      <dgm:spPr/>
      <dgm:t>
        <a:bodyPr/>
        <a:lstStyle/>
        <a:p>
          <a:pPr rtl="0"/>
          <a:r>
            <a:rPr lang="en-US" dirty="0">
              <a:latin typeface="Arial"/>
              <a:cs typeface="Arial"/>
            </a:rPr>
            <a:t> Structured Requirements</a:t>
          </a:r>
          <a:endParaRPr lang="en-US" dirty="0"/>
        </a:p>
      </dgm:t>
    </dgm:pt>
    <dgm:pt modelId="{B7B7B590-B5F4-420D-A88D-9ED86804B32C}" type="parTrans" cxnId="{C5B91517-5763-46B8-9BB7-C81295C2131C}">
      <dgm:prSet/>
      <dgm:spPr/>
    </dgm:pt>
    <dgm:pt modelId="{EDA26893-6B52-4E8B-82E0-BE5740C6A8E4}" type="sibTrans" cxnId="{C5B91517-5763-46B8-9BB7-C81295C2131C}">
      <dgm:prSet/>
      <dgm:spPr/>
    </dgm:pt>
    <dgm:pt modelId="{A0E8BA45-0893-4A94-A338-D996AD9B41EA}">
      <dgm:prSet phldr="0"/>
      <dgm:spPr/>
      <dgm:t>
        <a:bodyPr/>
        <a:lstStyle/>
        <a:p>
          <a:pPr rtl="0"/>
          <a:r>
            <a:rPr lang="en-US" dirty="0">
              <a:latin typeface="Arial"/>
              <a:cs typeface="Arial"/>
            </a:rPr>
            <a:t>Review / Use</a:t>
          </a:r>
        </a:p>
      </dgm:t>
    </dgm:pt>
    <dgm:pt modelId="{666A8F61-A30A-44AA-9E64-6B70059F4DAC}" type="parTrans" cxnId="{35DF8C8C-3236-4762-9A03-8A76A3BB3C39}">
      <dgm:prSet/>
      <dgm:spPr/>
    </dgm:pt>
    <dgm:pt modelId="{21E4308B-ECFD-4322-83A9-BB4194D2DDA3}" type="sibTrans" cxnId="{35DF8C8C-3236-4762-9A03-8A76A3BB3C39}">
      <dgm:prSet/>
      <dgm:spPr/>
    </dgm:pt>
    <dgm:pt modelId="{12632F42-DBFC-4830-9DB5-E84F3334DB8E}" type="pres">
      <dgm:prSet presAssocID="{D38C01A4-FDC6-4763-9D02-FB7A4B610603}" presName="Name0" presStyleCnt="0">
        <dgm:presLayoutVars>
          <dgm:dir/>
          <dgm:animLvl val="lvl"/>
          <dgm:resizeHandles val="exact"/>
        </dgm:presLayoutVars>
      </dgm:prSet>
      <dgm:spPr/>
    </dgm:pt>
    <dgm:pt modelId="{FB2E4985-233B-4C13-AAFA-F7E3111EECC2}" type="pres">
      <dgm:prSet presAssocID="{B33D41BF-65EF-43F8-A8EE-CD06C978DB76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834F655-9F55-475F-8E2F-61D265C3D67C}" type="pres">
      <dgm:prSet presAssocID="{DB32DB44-50F9-43B3-A95C-9B9D1D9A2F21}" presName="parTxOnlySpace" presStyleCnt="0"/>
      <dgm:spPr/>
    </dgm:pt>
    <dgm:pt modelId="{36632266-6F81-41EC-8B94-A1D9241FDB97}" type="pres">
      <dgm:prSet presAssocID="{45B2874A-7C1A-46AA-845A-13435F0B38CC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DA23F2A-3A7A-4022-9A2D-AB221890E1D8}" type="pres">
      <dgm:prSet presAssocID="{65A8CFBC-B87B-4D72-8971-708746F3DA6B}" presName="parTxOnlySpace" presStyleCnt="0"/>
      <dgm:spPr/>
    </dgm:pt>
    <dgm:pt modelId="{23637E91-6E14-4B16-876C-4439807DA93C}" type="pres">
      <dgm:prSet presAssocID="{865F0EA6-DB86-4657-B20E-92A353CE1DC4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9AE4A24-02F2-4A24-9308-E5E433A2A19B}" type="pres">
      <dgm:prSet presAssocID="{EDA26893-6B52-4E8B-82E0-BE5740C6A8E4}" presName="parTxOnlySpace" presStyleCnt="0"/>
      <dgm:spPr/>
    </dgm:pt>
    <dgm:pt modelId="{F826CE91-8453-4FC6-86A7-B5CF2396436D}" type="pres">
      <dgm:prSet presAssocID="{A0E8BA45-0893-4A94-A338-D996AD9B41EA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BE08815-B1CA-4533-B830-7908C10AA9BA}" type="presOf" srcId="{B33D41BF-65EF-43F8-A8EE-CD06C978DB76}" destId="{FB2E4985-233B-4C13-AAFA-F7E3111EECC2}" srcOrd="0" destOrd="0" presId="urn:microsoft.com/office/officeart/2005/8/layout/chevron1"/>
    <dgm:cxn modelId="{C5B91517-5763-46B8-9BB7-C81295C2131C}" srcId="{D38C01A4-FDC6-4763-9D02-FB7A4B610603}" destId="{865F0EA6-DB86-4657-B20E-92A353CE1DC4}" srcOrd="2" destOrd="0" parTransId="{B7B7B590-B5F4-420D-A88D-9ED86804B32C}" sibTransId="{EDA26893-6B52-4E8B-82E0-BE5740C6A8E4}"/>
    <dgm:cxn modelId="{83AC9A71-78BF-4F9A-A365-5D35EB3EE7C7}" type="presOf" srcId="{D38C01A4-FDC6-4763-9D02-FB7A4B610603}" destId="{12632F42-DBFC-4830-9DB5-E84F3334DB8E}" srcOrd="0" destOrd="0" presId="urn:microsoft.com/office/officeart/2005/8/layout/chevron1"/>
    <dgm:cxn modelId="{A9D1CE54-933C-48C5-BA3B-51AED73ABFDD}" type="presOf" srcId="{45B2874A-7C1A-46AA-845A-13435F0B38CC}" destId="{36632266-6F81-41EC-8B94-A1D9241FDB97}" srcOrd="0" destOrd="0" presId="urn:microsoft.com/office/officeart/2005/8/layout/chevron1"/>
    <dgm:cxn modelId="{35DF8C8C-3236-4762-9A03-8A76A3BB3C39}" srcId="{D38C01A4-FDC6-4763-9D02-FB7A4B610603}" destId="{A0E8BA45-0893-4A94-A338-D996AD9B41EA}" srcOrd="3" destOrd="0" parTransId="{666A8F61-A30A-44AA-9E64-6B70059F4DAC}" sibTransId="{21E4308B-ECFD-4322-83A9-BB4194D2DDA3}"/>
    <dgm:cxn modelId="{60910E8D-F048-4448-8693-590993153A99}" srcId="{D38C01A4-FDC6-4763-9D02-FB7A4B610603}" destId="{B33D41BF-65EF-43F8-A8EE-CD06C978DB76}" srcOrd="0" destOrd="0" parTransId="{8D5BFF86-04DD-4F45-B794-8E896DB4E85E}" sibTransId="{DB32DB44-50F9-43B3-A95C-9B9D1D9A2F21}"/>
    <dgm:cxn modelId="{F30BFA96-8F29-4760-A340-0CFB13E88C94}" type="presOf" srcId="{A0E8BA45-0893-4A94-A338-D996AD9B41EA}" destId="{F826CE91-8453-4FC6-86A7-B5CF2396436D}" srcOrd="0" destOrd="0" presId="urn:microsoft.com/office/officeart/2005/8/layout/chevron1"/>
    <dgm:cxn modelId="{35289EAC-ABEE-46C8-AB0F-83B5AC094F82}" type="presOf" srcId="{865F0EA6-DB86-4657-B20E-92A353CE1DC4}" destId="{23637E91-6E14-4B16-876C-4439807DA93C}" srcOrd="0" destOrd="0" presId="urn:microsoft.com/office/officeart/2005/8/layout/chevron1"/>
    <dgm:cxn modelId="{13C4E1F6-ECDF-4E1A-A3A5-759553C99874}" srcId="{D38C01A4-FDC6-4763-9D02-FB7A4B610603}" destId="{45B2874A-7C1A-46AA-845A-13435F0B38CC}" srcOrd="1" destOrd="0" parTransId="{ED7AFD82-9359-45B7-B066-3AA6952E5178}" sibTransId="{65A8CFBC-B87B-4D72-8971-708746F3DA6B}"/>
    <dgm:cxn modelId="{BF226AFF-A2A5-49E2-A1F5-7015FE56AAAD}" type="presParOf" srcId="{12632F42-DBFC-4830-9DB5-E84F3334DB8E}" destId="{FB2E4985-233B-4C13-AAFA-F7E3111EECC2}" srcOrd="0" destOrd="0" presId="urn:microsoft.com/office/officeart/2005/8/layout/chevron1"/>
    <dgm:cxn modelId="{D00A9329-D1AA-4614-9131-0A9D10B416E3}" type="presParOf" srcId="{12632F42-DBFC-4830-9DB5-E84F3334DB8E}" destId="{5834F655-9F55-475F-8E2F-61D265C3D67C}" srcOrd="1" destOrd="0" presId="urn:microsoft.com/office/officeart/2005/8/layout/chevron1"/>
    <dgm:cxn modelId="{73B70485-D1FC-465E-A74C-46AE0AB34ACF}" type="presParOf" srcId="{12632F42-DBFC-4830-9DB5-E84F3334DB8E}" destId="{36632266-6F81-41EC-8B94-A1D9241FDB97}" srcOrd="2" destOrd="0" presId="urn:microsoft.com/office/officeart/2005/8/layout/chevron1"/>
    <dgm:cxn modelId="{4D82682B-F135-40CE-B33F-54EBFB8AD25A}" type="presParOf" srcId="{12632F42-DBFC-4830-9DB5-E84F3334DB8E}" destId="{3DA23F2A-3A7A-4022-9A2D-AB221890E1D8}" srcOrd="3" destOrd="0" presId="urn:microsoft.com/office/officeart/2005/8/layout/chevron1"/>
    <dgm:cxn modelId="{E4AB1EBC-C35D-4060-8A1B-641BAF9AAD14}" type="presParOf" srcId="{12632F42-DBFC-4830-9DB5-E84F3334DB8E}" destId="{23637E91-6E14-4B16-876C-4439807DA93C}" srcOrd="4" destOrd="0" presId="urn:microsoft.com/office/officeart/2005/8/layout/chevron1"/>
    <dgm:cxn modelId="{1C513AE2-4EC1-4ED1-89E6-61F5D5714A72}" type="presParOf" srcId="{12632F42-DBFC-4830-9DB5-E84F3334DB8E}" destId="{49AE4A24-02F2-4A24-9308-E5E433A2A19B}" srcOrd="5" destOrd="0" presId="urn:microsoft.com/office/officeart/2005/8/layout/chevron1"/>
    <dgm:cxn modelId="{AAF7A83B-3309-413F-8007-98C9B8DB1DE5}" type="presParOf" srcId="{12632F42-DBFC-4830-9DB5-E84F3334DB8E}" destId="{F826CE91-8453-4FC6-86A7-B5CF2396436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2E4985-233B-4C13-AAFA-F7E3111EECC2}">
      <dsp:nvSpPr>
        <dsp:cNvPr id="0" name=""/>
        <dsp:cNvSpPr/>
      </dsp:nvSpPr>
      <dsp:spPr>
        <a:xfrm>
          <a:off x="3977" y="2406956"/>
          <a:ext cx="2315549" cy="9262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/>
              <a:cs typeface="Arial"/>
            </a:rPr>
            <a:t>Policy PDF</a:t>
          </a:r>
          <a:endParaRPr lang="en-US" sz="1600" kern="1200" dirty="0"/>
        </a:p>
      </dsp:txBody>
      <dsp:txXfrm>
        <a:off x="467087" y="2406956"/>
        <a:ext cx="1389330" cy="926219"/>
      </dsp:txXfrm>
    </dsp:sp>
    <dsp:sp modelId="{36632266-6F81-41EC-8B94-A1D9241FDB97}">
      <dsp:nvSpPr>
        <dsp:cNvPr id="0" name=""/>
        <dsp:cNvSpPr/>
      </dsp:nvSpPr>
      <dsp:spPr>
        <a:xfrm>
          <a:off x="2087972" y="2406956"/>
          <a:ext cx="2315549" cy="9262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/>
              <a:cs typeface="Arial"/>
            </a:rPr>
            <a:t>AI Extraction</a:t>
          </a:r>
          <a:endParaRPr lang="en-US" sz="1600" kern="1200" dirty="0"/>
        </a:p>
      </dsp:txBody>
      <dsp:txXfrm>
        <a:off x="2551082" y="2406956"/>
        <a:ext cx="1389330" cy="926219"/>
      </dsp:txXfrm>
    </dsp:sp>
    <dsp:sp modelId="{23637E91-6E14-4B16-876C-4439807DA93C}">
      <dsp:nvSpPr>
        <dsp:cNvPr id="0" name=""/>
        <dsp:cNvSpPr/>
      </dsp:nvSpPr>
      <dsp:spPr>
        <a:xfrm>
          <a:off x="4171967" y="2406956"/>
          <a:ext cx="2315549" cy="9262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/>
              <a:cs typeface="Arial"/>
            </a:rPr>
            <a:t> Structured Requirements</a:t>
          </a:r>
          <a:endParaRPr lang="en-US" sz="1600" kern="1200" dirty="0"/>
        </a:p>
      </dsp:txBody>
      <dsp:txXfrm>
        <a:off x="4635077" y="2406956"/>
        <a:ext cx="1389330" cy="926219"/>
      </dsp:txXfrm>
    </dsp:sp>
    <dsp:sp modelId="{F826CE91-8453-4FC6-86A7-B5CF2396436D}">
      <dsp:nvSpPr>
        <dsp:cNvPr id="0" name=""/>
        <dsp:cNvSpPr/>
      </dsp:nvSpPr>
      <dsp:spPr>
        <a:xfrm>
          <a:off x="6255962" y="2406956"/>
          <a:ext cx="2315549" cy="9262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/>
              <a:cs typeface="Arial"/>
            </a:rPr>
            <a:t>Review / Use</a:t>
          </a:r>
        </a:p>
      </dsp:txBody>
      <dsp:txXfrm>
        <a:off x="6719072" y="2406956"/>
        <a:ext cx="1389330" cy="9262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01D60F8-F033-F9AE-D98A-8333B526EA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8" rIns="93177" bIns="46588" numCol="1" anchor="t" anchorCtr="0" compatLnSpc="1">
            <a:prstTxWarp prst="textNoShape">
              <a:avLst/>
            </a:prstTxWarp>
          </a:bodyPr>
          <a:lstStyle>
            <a:lvl1pPr defTabSz="931008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1A8856C-03E4-4DAC-574D-9BF775592AF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8" rIns="93177" bIns="46588" numCol="1" anchor="t" anchorCtr="0" compatLnSpc="1">
            <a:prstTxWarp prst="textNoShape">
              <a:avLst/>
            </a:prstTxWarp>
          </a:bodyPr>
          <a:lstStyle>
            <a:lvl1pPr algn="r" defTabSz="931008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E9CC6C2-25EF-FC18-E9D3-7B4E541FC36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553BE070-0F2E-6690-DA90-FA3034D8F78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6"/>
            <a:ext cx="5607050" cy="4181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8" rIns="93177" bIns="465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E032F544-6CF6-6750-4C6E-900C0BF3C75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8" rIns="93177" bIns="46588" numCol="1" anchor="b" anchorCtr="0" compatLnSpc="1">
            <a:prstTxWarp prst="textNoShape">
              <a:avLst/>
            </a:prstTxWarp>
          </a:bodyPr>
          <a:lstStyle>
            <a:lvl1pPr defTabSz="931008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D42E15D2-E406-C964-FE04-C9F6295AE6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8" rIns="93177" bIns="46588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/>
            </a:lvl1pPr>
          </a:lstStyle>
          <a:p>
            <a:fld id="{7A197060-8E60-4ADD-BFB1-B40D589A95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4CC570B9-B73C-3FA5-512C-A0599837CE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9300" indent="-287338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52525" indent="-230188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14488" indent="-230188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76450" indent="-230188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33650" indent="-230188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90850" indent="-230188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48050" indent="-230188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905250" indent="-230188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F1E648-C3D7-477A-AEF6-56A0F97852AD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6779D195-8EDD-C475-439E-3E1C39A7FA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263BF2B-6D86-7799-79A6-41D8DF19CE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0EB888-E353-A4F1-D16F-A335C812D9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7340C8-1A10-24B5-3044-ADEB4F400E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39A1FD-4CAA-704F-CB34-F4E2C9B24D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DBB3FE-0003-4D53-9C03-0BF9074ABB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908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522CEB-AB59-E578-93D2-74F7CBE56B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5B11D0-EB22-79C6-7CF9-187DC6EF96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DA3EAF-4811-ECBD-14BC-C55EDD9E1F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F55995-CC51-4760-836D-534FA45C8F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2917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23F46A-B52F-805F-3977-7DC999B24B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E22CC6-8172-809D-D3DD-B77E92E366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F0DD08-259D-130F-A46B-9E175A129D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80BD02-D1E9-4BA6-AFF2-BA85FE31EC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8200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3A9F7B-326D-6958-0D42-3ACD6C4928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9795D2-BD8B-1D0E-EEB9-92460B38B5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F3B976-03EC-D924-3C83-64026207AD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AE5183-0323-4583-AA3E-A9663791AB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0796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FE0B52B-4684-8334-120D-D17BAB091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D669F87-E237-D8AD-C746-3E89A9AA2E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F7B83BF-C97E-5B65-65D4-034ABC1BE6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298D62-54C1-44FD-8FC8-FE036C0A2C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3647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088CF53-95B8-6049-ED9D-28B7F75866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BCFF855-4590-5254-1F90-A3CF77C4B9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7732D89-70E1-300A-CF70-C1F77095C6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CA8555-340E-473A-BEE5-E842A8DFA4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0247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2CCE697-4BBC-4689-1ADB-A06AADA84D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5086DCB-C9F8-08A9-C679-200D214F2C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4A0F826-7538-6250-AE43-61EFFF6AF8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DD15E8-5D56-4B50-BC1A-D074B44CE7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252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ED2FE8-1B86-1FC2-DB91-EAA539FC03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DB92A-83E8-7F26-9B38-0899663B61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F91C75-D249-3732-E55F-3C9A7F01B3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546847-D7EE-469D-95F7-6CF8118FA7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278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74362A-93EF-8F77-5032-F21FA31C09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C35DB2-AE09-D3AE-969A-CE60C38B27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04BAB-E004-E461-488B-565E83FD57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8A5FA8-A8FA-46E0-B132-A687491743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858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B3B775-88B4-F127-DCA2-0B9A506063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60945C-073D-3538-ED6C-747E698857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43736B-E1D1-E79C-EDD7-DEA2B70D76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2F78EE-80D4-4A14-B08C-AE04A2E117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522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274638"/>
            <a:ext cx="21145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1912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3C83BA-BC92-FF63-6C32-B9DED8EAD8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89C8A7-DD67-A6AD-DD26-BF543045AA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731D5D-B143-3023-139D-3987AA3211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7FDCB1-DDCC-4C4B-90A8-36BBD6DE0D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1473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F563EC-463C-41E0-53C6-27949EDB8E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89522" y="114868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3BE3B85-F5F1-BE11-B667-3AD88C8E55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E4C84ED-8B37-DD8B-6CF9-3E634153C8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1F7807D-7D60-7905-C880-EBDDF22311F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C1F5CF9-4506-16A7-55E2-7ADFE44E5D8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79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9A012A9B-5148-4D35-9D56-361C1F2E16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83F014B3-249D-3028-2AF3-8E3D5FC2133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19100" y="1219200"/>
            <a:ext cx="8305800" cy="0"/>
          </a:xfrm>
          <a:prstGeom prst="line">
            <a:avLst/>
          </a:prstGeom>
          <a:noFill/>
          <a:ln w="57150" cmpd="thickThin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05A7B1-F662-F057-4118-BED947B71AB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28600" y="152400"/>
            <a:ext cx="944553" cy="9445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 i="1">
          <a:solidFill>
            <a:srgbClr val="000066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40000"/>
        </a:spcBef>
        <a:spcAft>
          <a:spcPct val="0"/>
        </a:spcAft>
        <a:buFont typeface="Wingdings" panose="05000000000000000000" pitchFamily="2" charset="2"/>
        <a:defRPr sz="2000" b="1" 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Font typeface="Wingdings" panose="05000000000000000000" pitchFamily="2" charset="2"/>
        <a:buChar char="§"/>
        <a:defRPr b="1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40000"/>
        </a:spcBef>
        <a:spcAft>
          <a:spcPct val="0"/>
        </a:spcAft>
        <a:buFont typeface="Wingdings" panose="05000000000000000000" pitchFamily="2" charset="2"/>
        <a:buChar char="§"/>
        <a:defRPr b="1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40000"/>
        </a:spcBef>
        <a:spcAft>
          <a:spcPct val="0"/>
        </a:spcAft>
        <a:buFont typeface="Wingdings" panose="05000000000000000000" pitchFamily="2" charset="2"/>
        <a:buChar char="§"/>
        <a:defRPr b="1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40000"/>
        </a:spcBef>
        <a:spcAft>
          <a:spcPct val="0"/>
        </a:spcAft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40000"/>
        </a:spcBef>
        <a:spcAft>
          <a:spcPct val="0"/>
        </a:spcAft>
        <a:buFont typeface="Wingdings" pitchFamily="2" charset="2"/>
        <a:buChar char="§"/>
        <a:defRPr sz="2000" b="1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40000"/>
        </a:spcBef>
        <a:spcAft>
          <a:spcPct val="0"/>
        </a:spcAft>
        <a:buFont typeface="Wingdings" pitchFamily="2" charset="2"/>
        <a:buChar char="§"/>
        <a:defRPr sz="2000" b="1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40000"/>
        </a:spcBef>
        <a:spcAft>
          <a:spcPct val="0"/>
        </a:spcAft>
        <a:buFont typeface="Wingdings" pitchFamily="2" charset="2"/>
        <a:buChar char="§"/>
        <a:defRPr sz="2000" b="1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40000"/>
        </a:spcBef>
        <a:spcAft>
          <a:spcPct val="0"/>
        </a:spcAft>
        <a:buFont typeface="Wingdings" pitchFamily="2" charset="2"/>
        <a:buChar char="§"/>
        <a:defRPr sz="2000" b="1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F2FC44C-5EFA-2F0C-FD88-BB2BA32541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3581400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en-US" sz="2800" i="0" dirty="0"/>
              <a:t>Automated Requirements Extraction from Navy Policy Documents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C361856-A1C1-F38D-F275-DDDEFED17CD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6343" y="4761761"/>
            <a:ext cx="8620217" cy="1791439"/>
          </a:xfrm>
        </p:spPr>
        <p:txBody>
          <a:bodyPr/>
          <a:lstStyle/>
          <a:p>
            <a:pPr eaLnBrk="1" hangingPunct="1"/>
            <a:endParaRPr lang="en-US" altLang="en-US" i="0" dirty="0">
              <a:solidFill>
                <a:srgbClr val="000066"/>
              </a:solidFill>
            </a:endParaRPr>
          </a:p>
          <a:p>
            <a:pPr eaLnBrk="1" hangingPunct="1"/>
            <a:r>
              <a:rPr lang="en-US" altLang="en-US" i="0" dirty="0">
                <a:solidFill>
                  <a:srgbClr val="000066"/>
                </a:solidFill>
              </a:rPr>
              <a:t>12Jan2026</a:t>
            </a:r>
          </a:p>
          <a:p>
            <a:pPr eaLnBrk="1" hangingPunct="1"/>
            <a:r>
              <a:rPr lang="en-US" altLang="en-US" i="0" dirty="0">
                <a:solidFill>
                  <a:srgbClr val="000066"/>
                </a:solidFill>
              </a:rPr>
              <a:t>ENS Logan Garner, ENS Joseph Pusateri, ENS Garrett Hayden</a:t>
            </a:r>
          </a:p>
        </p:txBody>
      </p:sp>
      <p:sp>
        <p:nvSpPr>
          <p:cNvPr id="3076" name="Line 5">
            <a:extLst>
              <a:ext uri="{FF2B5EF4-FFF2-40B4-BE49-F238E27FC236}">
                <a16:creationId xmlns:a16="http://schemas.microsoft.com/office/drawing/2014/main" id="{C042B245-3339-A7D4-FC1E-E46C6A232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724400"/>
            <a:ext cx="4343400" cy="0"/>
          </a:xfrm>
          <a:prstGeom prst="line">
            <a:avLst/>
          </a:prstGeom>
          <a:noFill/>
          <a:ln w="63500" cmpd="thinThick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077" name="Line 6">
            <a:extLst>
              <a:ext uri="{FF2B5EF4-FFF2-40B4-BE49-F238E27FC236}">
                <a16:creationId xmlns:a16="http://schemas.microsoft.com/office/drawing/2014/main" id="{A574A9C7-5354-C7DC-A109-F7AFF9C295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724400"/>
            <a:ext cx="3124200" cy="0"/>
          </a:xfrm>
          <a:prstGeom prst="line">
            <a:avLst/>
          </a:prstGeom>
          <a:noFill/>
          <a:ln w="63500" cmpd="thinThick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3078" name="Picture 1">
            <a:extLst>
              <a:ext uri="{FF2B5EF4-FFF2-40B4-BE49-F238E27FC236}">
                <a16:creationId xmlns:a16="http://schemas.microsoft.com/office/drawing/2014/main" id="{E8239BA4-0808-79A6-237D-15742E524F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762000"/>
            <a:ext cx="27432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F2554-21FA-A0C7-33DF-27067A878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Operational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6216F-EA00-6C5F-F6BE-86D8F7CEC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5000000000000000000" pitchFamily="2" charset="2"/>
              <a:buChar char="•"/>
            </a:pPr>
            <a:r>
              <a:rPr lang="en-US" sz="2400" b="0" dirty="0"/>
              <a:t>Navy policy documents are long, complex, and constantly changing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400" b="0" dirty="0"/>
              <a:t>Requirements for these documents are embedded in technical language and administrative remarks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400" b="0" dirty="0"/>
              <a:t>In the past, reviewing has been slow and inconsistent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400" b="0" dirty="0"/>
              <a:t>This leads to training gaps, overlooking procedures, and an increase in overall risk</a:t>
            </a:r>
          </a:p>
          <a:p>
            <a:pPr>
              <a:buFont typeface="Arial" panose="05000000000000000000" pitchFamily="2" charset="2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6C5E7-362C-B8C4-DDBF-2CCF05DF7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5995-CC51-4760-836D-534FA45C8F29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74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B14BC-026A-A349-911C-698F91153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Across the Fleet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5D925-ED9D-6AE9-A6E2-EBB84FB0C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5000000000000000000" pitchFamily="2" charset="2"/>
              <a:buChar char="•"/>
            </a:pPr>
            <a:r>
              <a:rPr lang="en-US" sz="2800" b="0" dirty="0"/>
              <a:t>Training commands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800" b="0" dirty="0"/>
              <a:t>Aviation squadrons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800" b="0" dirty="0"/>
              <a:t>Maintenance and safety programs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800" b="0" dirty="0"/>
              <a:t>Inspections, audits, and readiness reporting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800" dirty="0"/>
              <a:t>A single missed requirement can become a readiness or safety issue</a:t>
            </a:r>
          </a:p>
          <a:p>
            <a:pPr>
              <a:buFont typeface="Arial" panose="05000000000000000000" pitchFamily="2" charset="2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F1AB1-7090-541A-A2C9-B8F153EB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5995-CC51-4760-836D-534FA45C8F29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960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FFF-C8A5-4480-54BC-1737799C4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vs. Automated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9CFB0F6-E9E4-6E79-4857-E042E4A805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1229796"/>
              </p:ext>
            </p:extLst>
          </p:nvPr>
        </p:nvGraphicFramePr>
        <p:xfrm>
          <a:off x="457200" y="1600200"/>
          <a:ext cx="8337316" cy="386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8658">
                  <a:extLst>
                    <a:ext uri="{9D8B030D-6E8A-4147-A177-3AD203B41FA5}">
                      <a16:colId xmlns:a16="http://schemas.microsoft.com/office/drawing/2014/main" val="4081562876"/>
                    </a:ext>
                  </a:extLst>
                </a:gridCol>
                <a:gridCol w="4168658">
                  <a:extLst>
                    <a:ext uri="{9D8B030D-6E8A-4147-A177-3AD203B41FA5}">
                      <a16:colId xmlns:a16="http://schemas.microsoft.com/office/drawing/2014/main" val="1889792152"/>
                    </a:ext>
                  </a:extLst>
                </a:gridCol>
              </a:tblGrid>
              <a:tr h="773372">
                <a:tc>
                  <a:txBody>
                    <a:bodyPr/>
                    <a:lstStyle/>
                    <a:p>
                      <a:r>
                        <a:rPr lang="en-US" i="1" dirty="0"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Automated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253299"/>
                  </a:ext>
                </a:extLst>
              </a:tr>
              <a:tr h="773372">
                <a:tc>
                  <a:txBody>
                    <a:bodyPr/>
                    <a:lstStyle/>
                    <a:p>
                      <a:r>
                        <a:rPr lang="en-US" i="1" dirty="0"/>
                        <a:t>Human 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Machine-assisted extraction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890917"/>
                  </a:ext>
                </a:extLst>
              </a:tr>
              <a:tr h="773372">
                <a:tc>
                  <a:txBody>
                    <a:bodyPr/>
                    <a:lstStyle/>
                    <a:p>
                      <a:r>
                        <a:rPr lang="en-US" i="1" dirty="0"/>
                        <a:t>Inconsistent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Standardized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92069"/>
                  </a:ext>
                </a:extLst>
              </a:tr>
              <a:tr h="773372">
                <a:tc>
                  <a:txBody>
                    <a:bodyPr/>
                    <a:lstStyle/>
                    <a:p>
                      <a:r>
                        <a:rPr lang="en-US" i="1" dirty="0"/>
                        <a:t>Time-intensive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Almost Instantaneous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495132"/>
                  </a:ext>
                </a:extLst>
              </a:tr>
              <a:tr h="773372">
                <a:tc>
                  <a:txBody>
                    <a:bodyPr/>
                    <a:lstStyle/>
                    <a:p>
                      <a:r>
                        <a:rPr lang="en-US" i="1" dirty="0"/>
                        <a:t>Hard to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Fully Traceable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02095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A56D7-723E-F6E3-85DC-4AF685C0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5995-CC51-4760-836D-534FA45C8F29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52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59BA-331E-9301-AFA5-D0BC245F1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Requirements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30FDD-C2D9-B384-4346-5C59A55FC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2326"/>
            <a:ext cx="8229600" cy="4525963"/>
          </a:xfrm>
        </p:spPr>
        <p:txBody>
          <a:bodyPr/>
          <a:lstStyle/>
          <a:p>
            <a:pPr>
              <a:buFont typeface="Arial" panose="05000000000000000000" pitchFamily="2" charset="2"/>
              <a:buChar char="•"/>
            </a:pPr>
            <a:r>
              <a:rPr lang="en-US" sz="2400" b="0" dirty="0"/>
              <a:t>Ingests Navy policy documents (PDFs)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400" b="0" dirty="0"/>
              <a:t>Identifies explicit requirements statements (shall, must, required)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400" b="0" dirty="0"/>
              <a:t>Outputs structured, searchable, filtered requirements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400" b="0" dirty="0"/>
              <a:t>Preserves traceability to the source document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B6B71-8F99-5F66-6774-F10C4EC38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5995-CC51-4760-836D-534FA45C8F29}" type="slidenum">
              <a:rPr lang="en-US" altLang="en-US"/>
              <a:pPr/>
              <a:t>5</a:t>
            </a:fld>
            <a:endParaRPr lang="en-US" alt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3C3808A-DCC5-4C2B-44A4-3383D6F36A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2198116"/>
              </p:ext>
            </p:extLst>
          </p:nvPr>
        </p:nvGraphicFramePr>
        <p:xfrm>
          <a:off x="281263" y="1929337"/>
          <a:ext cx="8575490" cy="5740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1107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F34B9-008E-BBA5-AB2C-6D1E7684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Tailored for the Navy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27131-726D-9879-9007-F39EE077A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5000000000000000000" pitchFamily="2" charset="2"/>
              <a:buChar char="•"/>
            </a:pPr>
            <a:r>
              <a:rPr lang="en-US" sz="2400" b="0" dirty="0"/>
              <a:t>Focuses on </a:t>
            </a:r>
            <a:r>
              <a:rPr lang="en-US" sz="2400" dirty="0"/>
              <a:t>requirements only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400" b="0" dirty="0"/>
              <a:t>Produces </a:t>
            </a:r>
            <a:r>
              <a:rPr lang="en-US" sz="2400" dirty="0"/>
              <a:t>machine-readable output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400" b="0" dirty="0"/>
              <a:t>Every requirement links back to the </a:t>
            </a:r>
            <a:r>
              <a:rPr lang="en-US" sz="2400" dirty="0"/>
              <a:t>exact source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400" b="0" dirty="0"/>
              <a:t>Designed for Navy-specific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17F67-9275-436A-25BA-3555EC28D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5995-CC51-4760-836D-534FA45C8F29}" type="slidenum">
              <a:rPr lang="en-US" altLang="en-US"/>
              <a:pPr/>
              <a:t>6</a:t>
            </a:fld>
            <a:endParaRPr lang="en-US" altLang="en-US"/>
          </a:p>
        </p:txBody>
      </p:sp>
      <p:pic>
        <p:nvPicPr>
          <p:cNvPr id="5" name="Picture 4" descr="File:NAVADMIN 214-17 (2017).pdf - Wikimedia Commons">
            <a:extLst>
              <a:ext uri="{FF2B5EF4-FFF2-40B4-BE49-F238E27FC236}">
                <a16:creationId xmlns:a16="http://schemas.microsoft.com/office/drawing/2014/main" id="{15EF6325-EF11-9A22-D542-781D65EDC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721" y="3911723"/>
            <a:ext cx="1887010" cy="2480199"/>
          </a:xfrm>
          <a:prstGeom prst="rect">
            <a:avLst/>
          </a:prstGeom>
        </p:spPr>
      </p:pic>
      <p:pic>
        <p:nvPicPr>
          <p:cNvPr id="6" name="Picture 5" descr="Navy Traffic Safety Program Instruction OPNAVINST 5100.12J">
            <a:extLst>
              <a:ext uri="{FF2B5EF4-FFF2-40B4-BE49-F238E27FC236}">
                <a16:creationId xmlns:a16="http://schemas.microsoft.com/office/drawing/2014/main" id="{30A00DAA-0ED0-77DC-9306-BF8ED1E9E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051" y="3850688"/>
            <a:ext cx="1986884" cy="26078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2535B9-1946-E2E5-F07A-251AB4F5AD71}"/>
              </a:ext>
            </a:extLst>
          </p:cNvPr>
          <p:cNvSpPr txBox="1"/>
          <p:nvPr/>
        </p:nvSpPr>
        <p:spPr>
          <a:xfrm>
            <a:off x="1448199" y="6558785"/>
            <a:ext cx="18072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NAVADMIN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6BD169-B0BC-D792-434B-C43E23575A93}"/>
              </a:ext>
            </a:extLst>
          </p:cNvPr>
          <p:cNvSpPr txBox="1"/>
          <p:nvPr/>
        </p:nvSpPr>
        <p:spPr>
          <a:xfrm>
            <a:off x="5172259" y="6561399"/>
            <a:ext cx="2357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OPNAV Instruction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362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3FF55-54CA-A533-3D8D-BB9BB131A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3E17A-F558-8075-5AD9-45CDEDD85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,Sans-Serif" panose="05000000000000000000" pitchFamily="2" charset="2"/>
              <a:buChar char="•"/>
            </a:pPr>
            <a:r>
              <a:rPr lang="en-US" sz="2800" dirty="0"/>
              <a:t>Technology Used:</a:t>
            </a:r>
            <a:endParaRPr lang="en-US" sz="2800" b="0" i="0" dirty="0"/>
          </a:p>
          <a:p>
            <a:pPr lvl="1">
              <a:buFont typeface="Courier New,monospace" panose="05000000000000000000" pitchFamily="2" charset="2"/>
              <a:buChar char="o"/>
            </a:pPr>
            <a:r>
              <a:rPr lang="en-US" b="0" dirty="0"/>
              <a:t>Python - Data Processing and code</a:t>
            </a:r>
          </a:p>
          <a:p>
            <a:pPr lvl="1">
              <a:buFont typeface="Courier New,monospace" panose="05000000000000000000" pitchFamily="2" charset="2"/>
              <a:buChar char="o"/>
            </a:pPr>
            <a:r>
              <a:rPr lang="en-US" b="0" dirty="0"/>
              <a:t>Large Language Model - Extraction of requirements from documents</a:t>
            </a:r>
          </a:p>
          <a:p>
            <a:pPr lvl="1">
              <a:buFont typeface="Courier New,monospace" panose="05000000000000000000" pitchFamily="2" charset="2"/>
              <a:buChar char="o"/>
            </a:pPr>
            <a:r>
              <a:rPr lang="en-US" b="0" dirty="0"/>
              <a:t>Metadata parsing - Organization of titles, dates, doc IDs</a:t>
            </a:r>
          </a:p>
          <a:p>
            <a:pPr lvl="1">
              <a:buFont typeface="Courier New,monospace" panose="05000000000000000000" pitchFamily="2" charset="2"/>
              <a:buChar char="o"/>
            </a:pPr>
            <a:r>
              <a:rPr lang="en-US" b="0" dirty="0"/>
              <a:t>PDF ingestion and parsing - Converts PDFs to readable text for the model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800" dirty="0"/>
              <a:t>Model Used: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 b="0" dirty="0"/>
              <a:t>GPT-4: lightweight, cost efficient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 b="0" dirty="0"/>
              <a:t>Could be upgraded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08F38-2C55-BA1E-53B8-559564F85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5995-CC51-4760-836D-534FA45C8F29}" type="slidenum">
              <a:rPr lang="en-US" altLang="en-US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9789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B798D-F3E5-5CFC-A413-67064612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183CF-8194-DDD6-F869-B7AAD5CAB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5000000000000000000" pitchFamily="2" charset="2"/>
              <a:buChar char="•"/>
            </a:pPr>
            <a:r>
              <a:rPr lang="en-US" sz="2800" b="0" dirty="0"/>
              <a:t>Input: Real Navy Policy document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800" b="0" dirty="0"/>
              <a:t>Output: Clean list of requirements in a readable and filtered medium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800" b="0" dirty="0"/>
              <a:t>Time: Seconds to minutes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800" b="0" dirty="0"/>
              <a:t>Reviewer can see real time data about the number of requirements and the model's progress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64A06-21A6-EE40-DE1C-77E90C66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5995-CC51-4760-836D-534FA45C8F29}" type="slidenum">
              <a:rPr lang="en-US" altLang="en-US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7948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72513-51AC-1726-4A0C-60DA3DE2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(2)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56E0F-ADE8-5523-A0D6-6EB9105A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5995-CC51-4760-836D-534FA45C8F29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9050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C21F8-9019-2482-631C-A3D87AD94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We Encountered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07DCC-A38F-A89E-4ECE-C550AD76E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5000000000000000000" pitchFamily="2" charset="2"/>
              <a:buChar char="•"/>
            </a:pPr>
            <a:r>
              <a:rPr lang="en-US" sz="2800" b="0" dirty="0"/>
              <a:t>Inconsistent policy document formats</a:t>
            </a:r>
            <a:endParaRPr lang="en-US"/>
          </a:p>
          <a:p>
            <a:pPr lvl="1"/>
            <a:r>
              <a:rPr lang="en-US" b="0" dirty="0">
                <a:ea typeface="+mn-lt"/>
                <a:cs typeface="+mn-lt"/>
              </a:rPr>
              <a:t>Documents vary widely in structure, layout, and wording </a:t>
            </a:r>
            <a:endParaRPr lang="en-US" b="0" i="1"/>
          </a:p>
          <a:p>
            <a:pPr lvl="1"/>
            <a:r>
              <a:rPr lang="en-US" b="0" dirty="0">
                <a:ea typeface="+mn-lt"/>
                <a:cs typeface="+mn-lt"/>
              </a:rPr>
              <a:t>Titles, dates, and information are not consistent across different documents</a:t>
            </a:r>
            <a:endParaRPr lang="en-US" b="0" i="1" dirty="0"/>
          </a:p>
          <a:p>
            <a:pPr>
              <a:buFont typeface="Arial" panose="05000000000000000000" pitchFamily="2" charset="2"/>
              <a:buChar char="•"/>
            </a:pPr>
            <a:r>
              <a:rPr lang="en-US" sz="2800" b="0" dirty="0"/>
              <a:t>Modalities were not always requirements</a:t>
            </a:r>
          </a:p>
          <a:p>
            <a:pPr lvl="1"/>
            <a:r>
              <a:rPr lang="en-US" b="0" dirty="0"/>
              <a:t>Not all modal verbs were true requirements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800" b="0" dirty="0"/>
              <a:t>Scaling could create cost considerations when it comes to the chosen LLM</a:t>
            </a:r>
          </a:p>
          <a:p>
            <a:pPr lvl="1"/>
            <a:r>
              <a:rPr lang="en-US" b="0" dirty="0"/>
              <a:t>Scaling requires cost-aware model selection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4E015-4CE9-35BD-BB84-2FB8AE3F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5995-CC51-4760-836D-534FA45C8F29}" type="slidenum">
              <a:rPr lang="en-US" altLang="en-US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3045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885F2-D9F9-F96F-0A24-471255EA3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 and Future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A8FD-E09A-CC3E-BEB9-7DA55CD3F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5000000000000000000" pitchFamily="2" charset="2"/>
              <a:buChar char="•"/>
            </a:pPr>
            <a:r>
              <a:rPr lang="en-US" sz="2800" b="0" dirty="0"/>
              <a:t>Works across document types*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800" b="0" dirty="0"/>
              <a:t>Can scale to other administrative, paper based tasks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sz="2800" b="0" dirty="0"/>
              <a:t>Future teams can continue to refine model and integration with current Navy systems</a:t>
            </a:r>
            <a:endParaRPr lang="en-US" b="0" i="1"/>
          </a:p>
          <a:p>
            <a:pPr>
              <a:buFont typeface="Arial" panose="05000000000000000000" pitchFamily="2" charset="2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04A0D-FBCE-FF17-8CB1-3538FE5DD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5995-CC51-4760-836D-534FA45C8F29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7435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E0645-62FD-6341-D5F6-E59B36D58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Questions/Thank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5E19E-8B91-0706-B930-49357965D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5995-CC51-4760-836D-534FA45C8F29}" type="slidenum">
              <a:rPr lang="en-US" altLang="en-US"/>
              <a:pPr/>
              <a:t>12</a:t>
            </a:fld>
            <a:endParaRPr lang="en-US" altLang="en-US"/>
          </a:p>
        </p:txBody>
      </p:sp>
      <p:pic>
        <p:nvPicPr>
          <p:cNvPr id="6" name="Picture 1" descr="A logo of a navy ship&#10;&#10;AI-generated content may be incorrect.">
            <a:extLst>
              <a:ext uri="{FF2B5EF4-FFF2-40B4-BE49-F238E27FC236}">
                <a16:creationId xmlns:a16="http://schemas.microsoft.com/office/drawing/2014/main" id="{C1ECA0AE-F1CE-540A-17AB-4B990FEA9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717" y="2052119"/>
            <a:ext cx="27432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65954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6779</TotalTime>
  <Words>6</Words>
  <Application>Microsoft Office PowerPoint</Application>
  <PresentationFormat>On-screen Show (4:3)</PresentationFormat>
  <Paragraphs>7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Default Design</vt:lpstr>
      <vt:lpstr>Automated Requirements Extraction from Navy Policy Documents</vt:lpstr>
      <vt:lpstr>The Operational Problem</vt:lpstr>
      <vt:lpstr>Impact Across the Fleet</vt:lpstr>
      <vt:lpstr>Manual vs. Automated</vt:lpstr>
      <vt:lpstr>Automated Requirements Extraction</vt:lpstr>
      <vt:lpstr>Tailored for the Navy</vt:lpstr>
      <vt:lpstr>Technical Overview</vt:lpstr>
      <vt:lpstr>Demo (1)</vt:lpstr>
      <vt:lpstr>Demo (2)</vt:lpstr>
      <vt:lpstr>Problems We Encountered</vt:lpstr>
      <vt:lpstr>Scalability and Future Growth</vt:lpstr>
      <vt:lpstr>Questions/Thank you</vt:lpstr>
    </vt:vector>
  </TitlesOfParts>
  <Company>NMCI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brian.casey</dc:creator>
  <cp:lastModifiedBy>Pasque, Kurt R LT USN NETC PENSACOLA FL (USA)</cp:lastModifiedBy>
  <cp:revision>416</cp:revision>
  <cp:lastPrinted>2025-01-14T18:06:04Z</cp:lastPrinted>
  <dcterms:created xsi:type="dcterms:W3CDTF">2007-09-17T13:33:01Z</dcterms:created>
  <dcterms:modified xsi:type="dcterms:W3CDTF">2026-01-11T20:22:11Z</dcterms:modified>
</cp:coreProperties>
</file>